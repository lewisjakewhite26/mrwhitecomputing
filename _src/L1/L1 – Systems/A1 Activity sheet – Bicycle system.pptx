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7560000" cx="10692000"/>
  <p:notesSz cx="7560000" cy="10692000"/>
  <p:embeddedFontLst>
    <p:embeddedFont>
      <p:font typeface="Quicksand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1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B6ED16-0003-4CA7-B9C2-F5D4AA47FDDA}">
  <a:tblStyle styleId="{84B6ED16-0003-4CA7-B9C2-F5D4AA47FD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1" orient="horz"/>
        <p:guide pos="3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Quicksan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Quicksan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ixabay.com/vectors/racing-bicycle-racer-racing-bike-161449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Late updated 31-01-22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Image source:</a:t>
            </a:r>
            <a:r>
              <a:rPr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2"/>
              </a:rPr>
              <a:t>https://pixabay.com/vectors/racing-bicycle-racer-racing-bike-161449/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4478" y="1094388"/>
            <a:ext cx="9963000" cy="3016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2pPr>
            <a:lvl3pPr lvl="2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3pPr>
            <a:lvl4pPr lvl="3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4pPr>
            <a:lvl5pPr lvl="4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5pPr>
            <a:lvl6pPr lvl="5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6pPr>
            <a:lvl7pPr lvl="6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7pPr>
            <a:lvl8pPr lvl="7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8pPr>
            <a:lvl9pPr lvl="8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4468" y="4165643"/>
            <a:ext cx="9963000" cy="1164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4468" y="3161354"/>
            <a:ext cx="9963000" cy="1237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2000"/>
              </a:spcBef>
              <a:spcAft>
                <a:spcPts val="20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4468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650483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4468" y="816630"/>
            <a:ext cx="3283500" cy="1110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4468" y="2042457"/>
            <a:ext cx="3283500" cy="46731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3245" y="661638"/>
            <a:ext cx="7445700" cy="60126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1pPr>
            <a:lvl2pPr lvl="1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346000" y="-184"/>
            <a:ext cx="5346000" cy="75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0447" y="1812541"/>
            <a:ext cx="4730100" cy="2178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0447" y="4120005"/>
            <a:ext cx="4730100" cy="18153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775715" y="1064257"/>
            <a:ext cx="4486500" cy="5431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2000"/>
              </a:spcBef>
              <a:spcAft>
                <a:spcPts val="20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4468" y="6218168"/>
            <a:ext cx="7014300" cy="8895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4468" y="1625801"/>
            <a:ext cx="9963000" cy="28860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4468" y="4633192"/>
            <a:ext cx="9963000" cy="1911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74650" lvl="0" marL="457200" algn="ctr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 algn="ctr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spcBef>
                <a:spcPts val="2000"/>
              </a:spcBef>
              <a:spcAft>
                <a:spcPts val="20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746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  <a:defRPr sz="2300">
                <a:solidFill>
                  <a:schemeClr val="dk2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://ncce.io/tcc" TargetMode="External"/><Relationship Id="rId5" Type="http://schemas.openxmlformats.org/officeDocument/2006/relationships/hyperlink" Target="http://ncce.io/ogl" TargetMode="External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{84B6ED16-0003-4CA7-B9C2-F5D4AA47FDDA}</a:tableStyleId>
              </a:tblPr>
              <a:tblGrid>
                <a:gridCol w="4895850"/>
                <a:gridCol w="5048250"/>
              </a:tblGrid>
              <a:tr h="546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66666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Year 5 – Systems and searching</a:t>
                      </a:r>
                      <a:endParaRPr sz="900">
                        <a:solidFill>
                          <a:srgbClr val="666666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66666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Lesson 1 – Systems</a:t>
                      </a:r>
                      <a:endParaRPr sz="900">
                        <a:solidFill>
                          <a:srgbClr val="666666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9525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66666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Learner activity sheet</a:t>
                      </a:r>
                      <a:endParaRPr sz="900">
                        <a:solidFill>
                          <a:srgbClr val="666666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666666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marR="9525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666666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850900"/>
            <a:ext cx="1714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680225" y="16129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Bicycle system</a:t>
            </a:r>
            <a:endParaRPr sz="11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80225" y="6725675"/>
            <a:ext cx="95688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Resources are updated regularly — the latest version is available at: </a:t>
            </a:r>
            <a:r>
              <a:rPr lang="en-GB" sz="9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ncce.io/tcc</a:t>
            </a:r>
            <a:r>
              <a:rPr lang="en-GB" sz="9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9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This resource is licensed under the Open Government Licence, version 3. For more information on this licence, see </a:t>
            </a:r>
            <a:r>
              <a:rPr lang="en-GB" sz="9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ncce.io/ogl</a:t>
            </a:r>
            <a:r>
              <a:rPr lang="en-GB" sz="9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1473683" y="1722062"/>
            <a:ext cx="7359680" cy="4513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