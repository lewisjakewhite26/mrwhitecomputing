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Quicksand"/>
      <p:regular r:id="rId19"/>
      <p:bold r:id="rId20"/>
    </p:embeddedFont>
    <p:embeddedFont>
      <p:font typeface="Quicksand Medium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icksand-bold.fntdata"/><Relationship Id="rId11" Type="http://schemas.openxmlformats.org/officeDocument/2006/relationships/slide" Target="slides/slide7.xml"/><Relationship Id="rId22" Type="http://schemas.openxmlformats.org/officeDocument/2006/relationships/font" Target="fonts/QuicksandMedium-bold.fntdata"/><Relationship Id="rId10" Type="http://schemas.openxmlformats.org/officeDocument/2006/relationships/slide" Target="slides/slide6.xml"/><Relationship Id="rId21" Type="http://schemas.openxmlformats.org/officeDocument/2006/relationships/font" Target="fonts/QuicksandMedium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Quicksand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ncce.io/tcc" TargetMode="External"/><Relationship Id="rId3" Type="http://schemas.openxmlformats.org/officeDocument/2006/relationships/hyperlink" Target="http://ncce.io/ogl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ixabay.com/vectors/racing-bicycle-racer-racing-bike-161449/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ixabay.com/vectors/racing-bicycle-racer-racing-bike-161449/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ixabay.com/vectors/racing-bicycle-racer-racing-bike-161449/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ixabay.com/vectors/washing-machine-clothes-laundry-1994661/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ixabay.com/vectors/teddy-bear-bear-knuffig-cuddly-447415/" TargetMode="External"/><Relationship Id="rId3" Type="http://schemas.openxmlformats.org/officeDocument/2006/relationships/hyperlink" Target="https://pixabay.com/vectors/index-finger-pointing-pointer-hand-309826/" TargetMode="External"/><Relationship Id="rId4" Type="http://schemas.openxmlformats.org/officeDocument/2006/relationships/hyperlink" Target="https://pixabay.com/vectors/button-red-round-shiny-155149/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ixabay.com/vectors/teddy-bear-bear-knuffig-cuddly-447415/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ixabay.com/illustrations/computer-web-internet-apple-imac-908893/" TargetMode="External"/><Relationship Id="rId3" Type="http://schemas.openxmlformats.org/officeDocument/2006/relationships/hyperlink" Target="https://pixabay.com/vectors/browser-internet-www-global-98386/" TargetMode="External"/><Relationship Id="rId4" Type="http://schemas.openxmlformats.org/officeDocument/2006/relationships/hyperlink" Target="https://pixabay.com/vectors/custom-code-flat-icon-custom-code-2440939/" TargetMode="External"/><Relationship Id="rId11" Type="http://schemas.openxmlformats.org/officeDocument/2006/relationships/hyperlink" Target="https://pixabay.com/illustrations/warehouse-shipping-box-business-3688280/" TargetMode="External"/><Relationship Id="rId10" Type="http://schemas.openxmlformats.org/officeDocument/2006/relationships/hyperlink" Target="https://pixabay.com/illustrations/iphone-hand-smartphone-mobile-1935983/" TargetMode="External"/><Relationship Id="rId9" Type="http://schemas.openxmlformats.org/officeDocument/2006/relationships/hyperlink" Target="https://pixabay.com/vectors/minivan-automobile-transportation-41476/" TargetMode="External"/><Relationship Id="rId5" Type="http://schemas.openxmlformats.org/officeDocument/2006/relationships/hyperlink" Target="https://pixabay.com/illustrations/box-packing-cardboard-package-686314/" TargetMode="External"/><Relationship Id="rId6" Type="http://schemas.openxmlformats.org/officeDocument/2006/relationships/hyperlink" Target="https://pixabay.com/vectors/box-paper-delivery-box-1252639/" TargetMode="External"/><Relationship Id="rId7" Type="http://schemas.openxmlformats.org/officeDocument/2006/relationships/hyperlink" Target="https://pixabay.com/vectors/box-cardboard-closed-carton-moving-40302/" TargetMode="External"/><Relationship Id="rId8" Type="http://schemas.openxmlformats.org/officeDocument/2006/relationships/hyperlink" Target="https://pixabay.com/photos/high-bay-stock-range-warenlager-408222/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ixabay.com/vectors/speech-bubbles-comments-orange-303206/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ixabay.com/vectors/thumb-up-hand-like-confirm-go-top-307176/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5eb07e6303_3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5eb07e6303_3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Last updated: 31-01-22</a:t>
            </a:r>
            <a:endParaRPr sz="1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Resources are updated regularly — the latest version is available at:</a:t>
            </a:r>
            <a:r>
              <a:rPr lang="en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ncce.io/tcc</a:t>
            </a:r>
            <a:r>
              <a:rPr lang="en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0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This resource is licensed under the Open Government Licence, version 3. For more information on this licence, see </a:t>
            </a:r>
            <a:r>
              <a:rPr lang="en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ncce.io/ogl</a:t>
            </a:r>
            <a:r>
              <a:rPr lang="en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0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63d06a408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63d06a408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3da6bc6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3da6bc6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63da6bc68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63da6bc68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Quicksand"/>
                <a:ea typeface="Quicksand"/>
                <a:cs typeface="Quicksand"/>
                <a:sym typeface="Quicksand"/>
              </a:rPr>
              <a:t>Image source:</a:t>
            </a:r>
            <a:r>
              <a:rPr lang="en"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https://pixabay.com/vectors/racing-bicycle-racer-racing-bike-161449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63da6bc68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63da6bc68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https://pixabay.com/vectors/racing-bicycle-racer-racing-bike-161449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63da6bc68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63da6bc68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https://pixabay.com/vectors/racing-bicycle-racer-racing-bike-161449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63da6bc68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63da6bc68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https://pixabay.com/vectors/washing-machine-clothes-laundry-1994661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63da6bc685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63da6bc68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Quicksand"/>
                <a:ea typeface="Quicksand"/>
                <a:cs typeface="Quicksand"/>
                <a:sym typeface="Quicksand"/>
              </a:rPr>
              <a:t>Image sources:</a:t>
            </a:r>
            <a:r>
              <a:rPr lang="en"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https://pixabay.com/vectors/teddy-bear-bear-knuffig-cuddly-447415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https://pixabay.com/vectors/index-finger-pointing-pointer-hand-309826/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4"/>
              </a:rPr>
              <a:t>https://pixabay.com/vectors/button-red-round-shiny-155149/</a:t>
            </a:r>
            <a:r>
              <a:rPr lang="en" sz="1000"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157ff29c9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157ff29c9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https://pixabay.com/vectors/teddy-bear-bear-knuffig-cuddly-447415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63da6bc68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63da6bc68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Quicksand"/>
                <a:ea typeface="Quicksand"/>
                <a:cs typeface="Quicksand"/>
                <a:sym typeface="Quicksand"/>
              </a:rPr>
              <a:t>Image source: Raspberry Pi Foundation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63f227d33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63f227d33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Quicksand"/>
                <a:ea typeface="Quicksand"/>
                <a:cs typeface="Quicksand"/>
                <a:sym typeface="Quicksand"/>
              </a:rPr>
              <a:t>Image sources: 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https://pixabay.com/illustrations/computer-web-internet-apple-imac-908893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https://pixabay.com/vectors/browser-internet-www-global-98386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4"/>
              </a:rPr>
              <a:t>https://pixabay.com/vectors/custom-code-flat-icon-custom-code-2440939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5"/>
              </a:rPr>
              <a:t>https://pixabay.com/illustrations/box-packing-cardboard-package-686314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6"/>
              </a:rPr>
              <a:t>https://pixabay.com/vectors/box-paper-delivery-box-1252639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7"/>
              </a:rPr>
              <a:t>https://pixabay.com/vectors/box-cardboard-closed-carton-moving-40302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8"/>
              </a:rPr>
              <a:t>https://pixabay.com/photos/high-bay-stock-range-warenlager-408222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9"/>
              </a:rPr>
              <a:t>https://pixabay.com/vectors/minivan-automobile-transportation-41476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10"/>
              </a:rPr>
              <a:t>https://pixabay.com/illustrations/iphone-hand-smartphone-mobile-1935983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11"/>
              </a:rPr>
              <a:t>https://pixabay.com/illustrations/warehouse-shipping-box-business-3688280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Quicksand"/>
                <a:ea typeface="Quicksand"/>
                <a:cs typeface="Quicksand"/>
                <a:sym typeface="Quicksand"/>
              </a:rPr>
              <a:t>Smart locker: Raspberry Pi Foundation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63f227d336_7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63f227d336_7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https://pixabay.com/vectors/speech-bubbles-comments-orange-303206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63f227d33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63f227d33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https://pixabay.com/vectors/thumb-up-hand-like-confirm-go-top-307176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63f227d336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63f227d336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5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32725" y="2665400"/>
            <a:ext cx="8095800" cy="7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67675" y="4249150"/>
            <a:ext cx="1465423" cy="6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/ Questions / Lists">
  <p:cSld name="TITLE_4_1_1_1_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0900" y="1017725"/>
            <a:ext cx="8522100" cy="3811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0900" y="310900"/>
            <a:ext cx="8522100" cy="7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and text under (with heading)">
  <p:cSld name="TITLE_4_1_1_2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0900" y="1017725"/>
            <a:ext cx="8521200" cy="309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310900" y="4117599"/>
            <a:ext cx="8521200" cy="6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and text under (no heading)">
  <p:cSld name="TITLE_4_1_1_1_4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0900" y="472000"/>
            <a:ext cx="8521200" cy="3795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310900" y="4282175"/>
            <a:ext cx="85212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(no text under)">
  <p:cSld name="TITLE_4_1_1_1_3_2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idx="1" type="body"/>
          </p:nvPr>
        </p:nvSpPr>
        <p:spPr>
          <a:xfrm>
            <a:off x="310900" y="1017725"/>
            <a:ext cx="8521200" cy="3811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310900" y="319600"/>
            <a:ext cx="8521200" cy="70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or Images side by side">
  <p:cSld name="TITLE_4_1_1_1_3_1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text">
  <p:cSld name="TITLE_4_1_1_1_1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310900" y="319600"/>
            <a:ext cx="8521200" cy="45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600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155CC">
            <a:alpha val="559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2725"/>
            <a:ext cx="9144000" cy="30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10900" y="310900"/>
            <a:ext cx="8521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icksand"/>
              <a:buNone/>
              <a:defRPr b="1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0900" y="1017725"/>
            <a:ext cx="8521500" cy="3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Char char="●"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rtl="0" algn="ctr">
              <a:buNone/>
              <a:defRPr sz="800">
                <a:solidFill>
                  <a:srgbClr val="494985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6">
          <p15:clr>
            <a:srgbClr val="EA4335"/>
          </p15:clr>
        </p15:guide>
        <p15:guide id="2" orient="horz" pos="196">
          <p15:clr>
            <a:srgbClr val="EA4335"/>
          </p15:clr>
        </p15:guide>
        <p15:guide id="3" orient="horz" pos="641">
          <p15:clr>
            <a:srgbClr val="EA4335"/>
          </p15:clr>
        </p15:guide>
        <p15:guide id="4" pos="2776">
          <p15:clr>
            <a:srgbClr val="EA4335"/>
          </p15:clr>
        </p15:guide>
        <p15:guide id="5" orient="horz" pos="812">
          <p15:clr>
            <a:srgbClr val="EA4335"/>
          </p15:clr>
        </p15:guide>
        <p15:guide id="6" pos="2984">
          <p15:clr>
            <a:srgbClr val="EA4335"/>
          </p15:clr>
        </p15:guide>
        <p15:guide id="7" pos="5564">
          <p15:clr>
            <a:srgbClr val="EA4335"/>
          </p15:clr>
        </p15:guide>
        <p15:guide id="8" orient="horz" pos="2592">
          <p15:clr>
            <a:srgbClr val="EA4335"/>
          </p15:clr>
        </p15:guide>
        <p15:guide id="9" pos="2448">
          <p15:clr>
            <a:srgbClr val="EA4335"/>
          </p15:clr>
        </p15:guide>
        <p15:guide id="10" pos="3312">
          <p15:clr>
            <a:srgbClr val="EA4335"/>
          </p15:clr>
        </p15:guide>
        <p15:guide id="11" orient="horz" pos="304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5.png"/><Relationship Id="rId11" Type="http://schemas.openxmlformats.org/officeDocument/2006/relationships/image" Target="../media/image12.png"/><Relationship Id="rId10" Type="http://schemas.openxmlformats.org/officeDocument/2006/relationships/image" Target="../media/image16.png"/><Relationship Id="rId9" Type="http://schemas.openxmlformats.org/officeDocument/2006/relationships/image" Target="../media/image13.png"/><Relationship Id="rId5" Type="http://schemas.openxmlformats.org/officeDocument/2006/relationships/image" Target="../media/image9.jp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1: Systems</a:t>
            </a:r>
            <a:endParaRPr/>
          </a:p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532725" y="2665400"/>
            <a:ext cx="8095800" cy="7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Year 5 – </a:t>
            </a:r>
            <a:r>
              <a:rPr lang="en"/>
              <a:t>Computing systems and networks</a:t>
            </a:r>
            <a:r>
              <a:rPr lang="en"/>
              <a:t> – </a:t>
            </a:r>
            <a:r>
              <a:rPr lang="en"/>
              <a:t>Systems and searching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310900" y="310900"/>
            <a:ext cx="8522100" cy="7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1: Systems</a:t>
            </a:r>
            <a:endParaRPr/>
          </a:p>
        </p:txBody>
      </p:sp>
      <p:sp>
        <p:nvSpPr>
          <p:cNvPr id="57" name="Google Shape;57;p10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0900" y="1017725"/>
            <a:ext cx="8522100" cy="38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 explain that computers can be connected together to form systems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can show that systems are built using a number of parts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can </a:t>
            </a:r>
            <a:r>
              <a:rPr lang="en"/>
              <a:t>describe </a:t>
            </a:r>
            <a:r>
              <a:rPr lang="en"/>
              <a:t>the input, process, and output of a digital system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I can explain that computer systems communicate with other devices</a:t>
            </a:r>
            <a:endParaRPr/>
          </a:p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310900" y="319600"/>
            <a:ext cx="8521200" cy="450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you think the word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system</a:t>
            </a:r>
            <a:r>
              <a:rPr lang="en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means?</a:t>
            </a:r>
            <a:endParaRPr/>
          </a:p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1"/>
          <p:cNvSpPr txBox="1"/>
          <p:nvPr>
            <p:ph idx="1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idx="2" type="body"/>
          </p:nvPr>
        </p:nvSpPr>
        <p:spPr>
          <a:xfrm>
            <a:off x="310900" y="4282175"/>
            <a:ext cx="85212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Can you name any </a:t>
            </a:r>
            <a:r>
              <a:rPr lang="en"/>
              <a:t>parts</a:t>
            </a:r>
            <a:r>
              <a:rPr lang="en"/>
              <a:t> of this bicycle?</a:t>
            </a:r>
            <a:endParaRPr/>
          </a:p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2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1</a:t>
            </a:r>
            <a:endParaRPr/>
          </a:p>
        </p:txBody>
      </p:sp>
      <p:pic>
        <p:nvPicPr>
          <p:cNvPr id="74" name="Google Shape;7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125" y="464563"/>
            <a:ext cx="6212749" cy="3810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" name="Google Shape;75;p12"/>
          <p:cNvGrpSpPr/>
          <p:nvPr/>
        </p:nvGrpSpPr>
        <p:grpSpPr>
          <a:xfrm>
            <a:off x="501800" y="491000"/>
            <a:ext cx="8339550" cy="3649500"/>
            <a:chOff x="501800" y="491000"/>
            <a:chExt cx="8339550" cy="3649500"/>
          </a:xfrm>
        </p:grpSpPr>
        <p:cxnSp>
          <p:nvCxnSpPr>
            <p:cNvPr id="76" name="Google Shape;76;p12"/>
            <p:cNvCxnSpPr/>
            <p:nvPr/>
          </p:nvCxnSpPr>
          <p:spPr>
            <a:xfrm rot="10800000">
              <a:off x="5781775" y="1381250"/>
              <a:ext cx="1841400" cy="47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7" name="Google Shape;77;p12"/>
            <p:cNvSpPr txBox="1"/>
            <p:nvPr/>
          </p:nvSpPr>
          <p:spPr>
            <a:xfrm>
              <a:off x="1797800" y="662875"/>
              <a:ext cx="9882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Seat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8" name="Google Shape;78;p12"/>
            <p:cNvSpPr txBox="1"/>
            <p:nvPr/>
          </p:nvSpPr>
          <p:spPr>
            <a:xfrm>
              <a:off x="1183575" y="1190488"/>
              <a:ext cx="9882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Wheel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9" name="Google Shape;79;p12"/>
            <p:cNvSpPr txBox="1"/>
            <p:nvPr/>
          </p:nvSpPr>
          <p:spPr>
            <a:xfrm>
              <a:off x="655700" y="1718100"/>
              <a:ext cx="9882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Tyre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0" name="Google Shape;80;p12"/>
            <p:cNvSpPr txBox="1"/>
            <p:nvPr/>
          </p:nvSpPr>
          <p:spPr>
            <a:xfrm>
              <a:off x="550300" y="2378400"/>
              <a:ext cx="9882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Spoke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1" name="Google Shape;81;p12"/>
            <p:cNvSpPr txBox="1"/>
            <p:nvPr/>
          </p:nvSpPr>
          <p:spPr>
            <a:xfrm>
              <a:off x="1017850" y="3575800"/>
              <a:ext cx="9882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Chain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2" name="Google Shape;82;p12"/>
            <p:cNvSpPr txBox="1"/>
            <p:nvPr/>
          </p:nvSpPr>
          <p:spPr>
            <a:xfrm>
              <a:off x="4077400" y="3753800"/>
              <a:ext cx="9882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Pedal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3" name="Google Shape;83;p12"/>
            <p:cNvSpPr txBox="1"/>
            <p:nvPr/>
          </p:nvSpPr>
          <p:spPr>
            <a:xfrm>
              <a:off x="6236900" y="491000"/>
              <a:ext cx="11550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Handlebars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4" name="Google Shape;84;p12"/>
            <p:cNvSpPr txBox="1"/>
            <p:nvPr/>
          </p:nvSpPr>
          <p:spPr>
            <a:xfrm>
              <a:off x="7149550" y="1190488"/>
              <a:ext cx="12960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Brake lever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5" name="Google Shape;85;p12"/>
            <p:cNvSpPr txBox="1"/>
            <p:nvPr/>
          </p:nvSpPr>
          <p:spPr>
            <a:xfrm>
              <a:off x="7474850" y="1718088"/>
              <a:ext cx="12960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Brake cable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6" name="Google Shape;86;p12"/>
            <p:cNvSpPr txBox="1"/>
            <p:nvPr/>
          </p:nvSpPr>
          <p:spPr>
            <a:xfrm>
              <a:off x="7545350" y="2312675"/>
              <a:ext cx="12960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Brake </a:t>
              </a: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caliper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7" name="Google Shape;87;p12"/>
            <p:cNvSpPr txBox="1"/>
            <p:nvPr/>
          </p:nvSpPr>
          <p:spPr>
            <a:xfrm>
              <a:off x="7474850" y="2907250"/>
              <a:ext cx="12960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Brake pad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8" name="Google Shape;88;p12"/>
            <p:cNvSpPr txBox="1"/>
            <p:nvPr/>
          </p:nvSpPr>
          <p:spPr>
            <a:xfrm>
              <a:off x="501800" y="3000125"/>
              <a:ext cx="12960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Sprocket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9" name="Google Shape;89;p12"/>
            <p:cNvSpPr txBox="1"/>
            <p:nvPr/>
          </p:nvSpPr>
          <p:spPr>
            <a:xfrm>
              <a:off x="7391900" y="3594713"/>
              <a:ext cx="11550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Front fork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cxnSp>
          <p:nvCxnSpPr>
            <p:cNvPr id="90" name="Google Shape;90;p12"/>
            <p:cNvCxnSpPr/>
            <p:nvPr/>
          </p:nvCxnSpPr>
          <p:spPr>
            <a:xfrm>
              <a:off x="2553325" y="877700"/>
              <a:ext cx="466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1" name="Google Shape;91;p12"/>
            <p:cNvCxnSpPr/>
            <p:nvPr/>
          </p:nvCxnSpPr>
          <p:spPr>
            <a:xfrm>
              <a:off x="1982525" y="1460800"/>
              <a:ext cx="597900" cy="7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2" name="Google Shape;92;p12"/>
            <p:cNvCxnSpPr/>
            <p:nvPr/>
          </p:nvCxnSpPr>
          <p:spPr>
            <a:xfrm>
              <a:off x="1442400" y="1976375"/>
              <a:ext cx="583200" cy="37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" name="Google Shape;93;p12"/>
            <p:cNvCxnSpPr/>
            <p:nvPr/>
          </p:nvCxnSpPr>
          <p:spPr>
            <a:xfrm>
              <a:off x="1356450" y="2590175"/>
              <a:ext cx="944100" cy="27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4" name="Google Shape;94;p12"/>
            <p:cNvCxnSpPr/>
            <p:nvPr/>
          </p:nvCxnSpPr>
          <p:spPr>
            <a:xfrm flipH="1" rot="10800000">
              <a:off x="1589700" y="2946050"/>
              <a:ext cx="1141500" cy="27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5" name="Google Shape;95;p12"/>
            <p:cNvCxnSpPr/>
            <p:nvPr/>
          </p:nvCxnSpPr>
          <p:spPr>
            <a:xfrm flipH="1" rot="10800000">
              <a:off x="1835200" y="3498600"/>
              <a:ext cx="1362600" cy="282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6" name="Google Shape;96;p12"/>
            <p:cNvCxnSpPr/>
            <p:nvPr/>
          </p:nvCxnSpPr>
          <p:spPr>
            <a:xfrm flipH="1" rot="10800000">
              <a:off x="4677025" y="3301975"/>
              <a:ext cx="159600" cy="540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7" name="Google Shape;97;p12"/>
            <p:cNvCxnSpPr>
              <a:stCxn id="83" idx="1"/>
            </p:cNvCxnSpPr>
            <p:nvPr/>
          </p:nvCxnSpPr>
          <p:spPr>
            <a:xfrm flipH="1">
              <a:off x="6021200" y="684350"/>
              <a:ext cx="215700" cy="29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8" name="Google Shape;98;p12"/>
            <p:cNvCxnSpPr/>
            <p:nvPr/>
          </p:nvCxnSpPr>
          <p:spPr>
            <a:xfrm rot="10800000">
              <a:off x="6432525" y="1245825"/>
              <a:ext cx="871500" cy="153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9" name="Google Shape;99;p12"/>
            <p:cNvCxnSpPr/>
            <p:nvPr/>
          </p:nvCxnSpPr>
          <p:spPr>
            <a:xfrm rot="10800000">
              <a:off x="5959925" y="1847525"/>
              <a:ext cx="1687800" cy="58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0" name="Google Shape;100;p12"/>
            <p:cNvCxnSpPr/>
            <p:nvPr/>
          </p:nvCxnSpPr>
          <p:spPr>
            <a:xfrm rot="10800000">
              <a:off x="6002800" y="1988625"/>
              <a:ext cx="1657200" cy="1080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1" name="Google Shape;101;p12"/>
            <p:cNvCxnSpPr/>
            <p:nvPr/>
          </p:nvCxnSpPr>
          <p:spPr>
            <a:xfrm rot="10800000">
              <a:off x="6021050" y="2522725"/>
              <a:ext cx="1516200" cy="124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02" name="Google Shape;102;p12"/>
            <p:cNvGrpSpPr/>
            <p:nvPr/>
          </p:nvGrpSpPr>
          <p:grpSpPr>
            <a:xfrm>
              <a:off x="4095750" y="631025"/>
              <a:ext cx="988200" cy="737575"/>
              <a:chOff x="1797800" y="662875"/>
              <a:chExt cx="988200" cy="737575"/>
            </a:xfrm>
          </p:grpSpPr>
          <p:sp>
            <p:nvSpPr>
              <p:cNvPr id="103" name="Google Shape;103;p12"/>
              <p:cNvSpPr txBox="1"/>
              <p:nvPr/>
            </p:nvSpPr>
            <p:spPr>
              <a:xfrm>
                <a:off x="1797800" y="662875"/>
                <a:ext cx="988200" cy="38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Frame</a:t>
                </a:r>
                <a:endParaRPr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cxnSp>
            <p:nvCxnSpPr>
              <p:cNvPr id="104" name="Google Shape;104;p12"/>
              <p:cNvCxnSpPr/>
              <p:nvPr/>
            </p:nvCxnSpPr>
            <p:spPr>
              <a:xfrm>
                <a:off x="2404850" y="965450"/>
                <a:ext cx="185700" cy="43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310900" y="4282175"/>
            <a:ext cx="85212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handlebars are connected to the front fork. Moving the handlebars allows the rider to steer the bike. This could be called the steering </a:t>
            </a:r>
            <a:r>
              <a:rPr b="1" lang="en"/>
              <a:t>system</a:t>
            </a:r>
            <a:r>
              <a:rPr lang="en"/>
              <a:t>.</a:t>
            </a:r>
            <a:endParaRPr/>
          </a:p>
        </p:txBody>
      </p:sp>
      <p:sp>
        <p:nvSpPr>
          <p:cNvPr id="110" name="Google Shape;110;p13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13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1</a:t>
            </a:r>
            <a:endParaRPr/>
          </a:p>
        </p:txBody>
      </p:sp>
      <p:pic>
        <p:nvPicPr>
          <p:cNvPr id="112" name="Google Shape;11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125" y="464563"/>
            <a:ext cx="6212749" cy="3810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/>
        </p:nvSpPr>
        <p:spPr>
          <a:xfrm>
            <a:off x="6236900" y="491000"/>
            <a:ext cx="11550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Handlebars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7391900" y="3594713"/>
            <a:ext cx="11550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Front fork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15" name="Google Shape;115;p13"/>
          <p:cNvCxnSpPr>
            <a:stCxn id="113" idx="1"/>
          </p:cNvCxnSpPr>
          <p:nvPr/>
        </p:nvCxnSpPr>
        <p:spPr>
          <a:xfrm flipH="1">
            <a:off x="6021200" y="684350"/>
            <a:ext cx="215700" cy="29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3"/>
          <p:cNvCxnSpPr/>
          <p:nvPr/>
        </p:nvCxnSpPr>
        <p:spPr>
          <a:xfrm rot="10800000">
            <a:off x="6021050" y="2522725"/>
            <a:ext cx="1516200" cy="124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/>
          <p:nvPr>
            <p:ph idx="2" type="body"/>
          </p:nvPr>
        </p:nvSpPr>
        <p:spPr>
          <a:xfrm>
            <a:off x="310900" y="4282175"/>
            <a:ext cx="85212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Can you describe a different </a:t>
            </a:r>
            <a:r>
              <a:rPr b="1" lang="en"/>
              <a:t>system </a:t>
            </a:r>
            <a:r>
              <a:rPr lang="en"/>
              <a:t>on this bicycle?</a:t>
            </a:r>
            <a:endParaRPr/>
          </a:p>
        </p:txBody>
      </p:sp>
      <p:sp>
        <p:nvSpPr>
          <p:cNvPr id="122" name="Google Shape;122;p14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1</a:t>
            </a:r>
            <a:endParaRPr/>
          </a:p>
        </p:txBody>
      </p:sp>
      <p:pic>
        <p:nvPicPr>
          <p:cNvPr id="124" name="Google Shape;12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125" y="464563"/>
            <a:ext cx="6212749" cy="3810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14"/>
          <p:cNvGrpSpPr/>
          <p:nvPr/>
        </p:nvGrpSpPr>
        <p:grpSpPr>
          <a:xfrm>
            <a:off x="501800" y="491000"/>
            <a:ext cx="8339550" cy="3649500"/>
            <a:chOff x="501800" y="491000"/>
            <a:chExt cx="8339550" cy="3649500"/>
          </a:xfrm>
        </p:grpSpPr>
        <p:cxnSp>
          <p:nvCxnSpPr>
            <p:cNvPr id="126" name="Google Shape;126;p14"/>
            <p:cNvCxnSpPr/>
            <p:nvPr/>
          </p:nvCxnSpPr>
          <p:spPr>
            <a:xfrm rot="10800000">
              <a:off x="5781775" y="1381250"/>
              <a:ext cx="1841400" cy="47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7" name="Google Shape;127;p14"/>
            <p:cNvSpPr txBox="1"/>
            <p:nvPr/>
          </p:nvSpPr>
          <p:spPr>
            <a:xfrm>
              <a:off x="1797800" y="662875"/>
              <a:ext cx="9882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Seat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8" name="Google Shape;128;p14"/>
            <p:cNvSpPr txBox="1"/>
            <p:nvPr/>
          </p:nvSpPr>
          <p:spPr>
            <a:xfrm>
              <a:off x="1183575" y="1190488"/>
              <a:ext cx="9882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Wheel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9" name="Google Shape;129;p14"/>
            <p:cNvSpPr txBox="1"/>
            <p:nvPr/>
          </p:nvSpPr>
          <p:spPr>
            <a:xfrm>
              <a:off x="655700" y="1718100"/>
              <a:ext cx="9882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Tyre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0" name="Google Shape;130;p14"/>
            <p:cNvSpPr txBox="1"/>
            <p:nvPr/>
          </p:nvSpPr>
          <p:spPr>
            <a:xfrm>
              <a:off x="550300" y="2378400"/>
              <a:ext cx="9882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Spoke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1" name="Google Shape;131;p14"/>
            <p:cNvSpPr txBox="1"/>
            <p:nvPr/>
          </p:nvSpPr>
          <p:spPr>
            <a:xfrm>
              <a:off x="1017850" y="3575800"/>
              <a:ext cx="9882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Chain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2" name="Google Shape;132;p14"/>
            <p:cNvSpPr txBox="1"/>
            <p:nvPr/>
          </p:nvSpPr>
          <p:spPr>
            <a:xfrm>
              <a:off x="4077400" y="3753800"/>
              <a:ext cx="9882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Pedal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3" name="Google Shape;133;p14"/>
            <p:cNvSpPr txBox="1"/>
            <p:nvPr/>
          </p:nvSpPr>
          <p:spPr>
            <a:xfrm>
              <a:off x="6236900" y="491000"/>
              <a:ext cx="11550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Handlebars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4" name="Google Shape;134;p14"/>
            <p:cNvSpPr txBox="1"/>
            <p:nvPr/>
          </p:nvSpPr>
          <p:spPr>
            <a:xfrm>
              <a:off x="7149550" y="1190488"/>
              <a:ext cx="12960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Brake lever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5" name="Google Shape;135;p14"/>
            <p:cNvSpPr txBox="1"/>
            <p:nvPr/>
          </p:nvSpPr>
          <p:spPr>
            <a:xfrm>
              <a:off x="7474850" y="1718088"/>
              <a:ext cx="12960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Brake cable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6" name="Google Shape;136;p14"/>
            <p:cNvSpPr txBox="1"/>
            <p:nvPr/>
          </p:nvSpPr>
          <p:spPr>
            <a:xfrm>
              <a:off x="7545350" y="2312675"/>
              <a:ext cx="12960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Brake caliper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7" name="Google Shape;137;p14"/>
            <p:cNvSpPr txBox="1"/>
            <p:nvPr/>
          </p:nvSpPr>
          <p:spPr>
            <a:xfrm>
              <a:off x="7474850" y="2907250"/>
              <a:ext cx="12960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Brake pad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8" name="Google Shape;138;p14"/>
            <p:cNvSpPr txBox="1"/>
            <p:nvPr/>
          </p:nvSpPr>
          <p:spPr>
            <a:xfrm>
              <a:off x="501800" y="3000125"/>
              <a:ext cx="12960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Sprocket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9" name="Google Shape;139;p14"/>
            <p:cNvSpPr txBox="1"/>
            <p:nvPr/>
          </p:nvSpPr>
          <p:spPr>
            <a:xfrm>
              <a:off x="7391900" y="3594713"/>
              <a:ext cx="11550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Front fork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cxnSp>
          <p:nvCxnSpPr>
            <p:cNvPr id="140" name="Google Shape;140;p14"/>
            <p:cNvCxnSpPr/>
            <p:nvPr/>
          </p:nvCxnSpPr>
          <p:spPr>
            <a:xfrm>
              <a:off x="2553325" y="877700"/>
              <a:ext cx="466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1" name="Google Shape;141;p14"/>
            <p:cNvCxnSpPr/>
            <p:nvPr/>
          </p:nvCxnSpPr>
          <p:spPr>
            <a:xfrm>
              <a:off x="1982525" y="1460800"/>
              <a:ext cx="612300" cy="76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2" name="Google Shape;142;p14"/>
            <p:cNvCxnSpPr/>
            <p:nvPr/>
          </p:nvCxnSpPr>
          <p:spPr>
            <a:xfrm>
              <a:off x="1442400" y="1976375"/>
              <a:ext cx="583200" cy="37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3" name="Google Shape;143;p14"/>
            <p:cNvCxnSpPr/>
            <p:nvPr/>
          </p:nvCxnSpPr>
          <p:spPr>
            <a:xfrm>
              <a:off x="1356450" y="2590175"/>
              <a:ext cx="935400" cy="25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4" name="Google Shape;144;p14"/>
            <p:cNvCxnSpPr/>
            <p:nvPr/>
          </p:nvCxnSpPr>
          <p:spPr>
            <a:xfrm flipH="1" rot="10800000">
              <a:off x="1589700" y="2946050"/>
              <a:ext cx="1141500" cy="27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5" name="Google Shape;145;p14"/>
            <p:cNvCxnSpPr/>
            <p:nvPr/>
          </p:nvCxnSpPr>
          <p:spPr>
            <a:xfrm flipH="1" rot="10800000">
              <a:off x="1835200" y="3498600"/>
              <a:ext cx="1362600" cy="282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6" name="Google Shape;146;p14"/>
            <p:cNvCxnSpPr/>
            <p:nvPr/>
          </p:nvCxnSpPr>
          <p:spPr>
            <a:xfrm flipH="1" rot="10800000">
              <a:off x="4677025" y="3301975"/>
              <a:ext cx="159600" cy="540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7" name="Google Shape;147;p14"/>
            <p:cNvCxnSpPr>
              <a:stCxn id="133" idx="1"/>
            </p:cNvCxnSpPr>
            <p:nvPr/>
          </p:nvCxnSpPr>
          <p:spPr>
            <a:xfrm flipH="1">
              <a:off x="6021200" y="684350"/>
              <a:ext cx="215700" cy="29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8" name="Google Shape;148;p14"/>
            <p:cNvCxnSpPr/>
            <p:nvPr/>
          </p:nvCxnSpPr>
          <p:spPr>
            <a:xfrm rot="10800000">
              <a:off x="6432525" y="1245825"/>
              <a:ext cx="871500" cy="153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9" name="Google Shape;149;p14"/>
            <p:cNvCxnSpPr/>
            <p:nvPr/>
          </p:nvCxnSpPr>
          <p:spPr>
            <a:xfrm rot="10800000">
              <a:off x="5959925" y="1847525"/>
              <a:ext cx="1687800" cy="58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0" name="Google Shape;150;p14"/>
            <p:cNvCxnSpPr/>
            <p:nvPr/>
          </p:nvCxnSpPr>
          <p:spPr>
            <a:xfrm rot="10800000">
              <a:off x="6002800" y="1988625"/>
              <a:ext cx="1657200" cy="1080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1" name="Google Shape;151;p14"/>
            <p:cNvCxnSpPr/>
            <p:nvPr/>
          </p:nvCxnSpPr>
          <p:spPr>
            <a:xfrm rot="10800000">
              <a:off x="6021050" y="2522725"/>
              <a:ext cx="1516200" cy="124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52" name="Google Shape;152;p14"/>
          <p:cNvGrpSpPr/>
          <p:nvPr/>
        </p:nvGrpSpPr>
        <p:grpSpPr>
          <a:xfrm>
            <a:off x="4095750" y="631025"/>
            <a:ext cx="988200" cy="737575"/>
            <a:chOff x="1797800" y="662875"/>
            <a:chExt cx="988200" cy="737575"/>
          </a:xfrm>
        </p:grpSpPr>
        <p:sp>
          <p:nvSpPr>
            <p:cNvPr id="153" name="Google Shape;153;p14"/>
            <p:cNvSpPr txBox="1"/>
            <p:nvPr/>
          </p:nvSpPr>
          <p:spPr>
            <a:xfrm>
              <a:off x="1797800" y="662875"/>
              <a:ext cx="9882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Frame</a:t>
              </a:r>
              <a:endPara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cxnSp>
          <p:nvCxnSpPr>
            <p:cNvPr id="154" name="Google Shape;154;p14"/>
            <p:cNvCxnSpPr/>
            <p:nvPr/>
          </p:nvCxnSpPr>
          <p:spPr>
            <a:xfrm>
              <a:off x="2404850" y="965450"/>
              <a:ext cx="185700" cy="43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dials and buttons on the front of a washing machine are the </a:t>
            </a:r>
            <a:r>
              <a:rPr b="1" lang="en"/>
              <a:t>inputs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computer inside</a:t>
            </a:r>
            <a:r>
              <a:rPr lang="en"/>
              <a:t> the washing machine follows a program based on the inputs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 clothes are washed and spun. The display indicates how long the wash is taking. These are </a:t>
            </a:r>
            <a:r>
              <a:rPr b="1" lang="en"/>
              <a:t>outputs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5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digital system</a:t>
            </a:r>
            <a:endParaRPr/>
          </a:p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5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2</a:t>
            </a:r>
            <a:endParaRPr/>
          </a:p>
        </p:txBody>
      </p:sp>
      <p:pic>
        <p:nvPicPr>
          <p:cNvPr id="163" name="Google Shape;16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8237" y="1168925"/>
            <a:ext cx="2264024" cy="365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15"/>
          <p:cNvCxnSpPr>
            <a:stCxn id="165" idx="3"/>
          </p:cNvCxnSpPr>
          <p:nvPr/>
        </p:nvCxnSpPr>
        <p:spPr>
          <a:xfrm>
            <a:off x="5453650" y="1825450"/>
            <a:ext cx="1712700" cy="70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15"/>
          <p:cNvCxnSpPr/>
          <p:nvPr/>
        </p:nvCxnSpPr>
        <p:spPr>
          <a:xfrm flipH="1" rot="10800000">
            <a:off x="5481425" y="2049925"/>
            <a:ext cx="2320200" cy="86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15"/>
          <p:cNvCxnSpPr/>
          <p:nvPr/>
        </p:nvCxnSpPr>
        <p:spPr>
          <a:xfrm flipH="1" rot="10800000">
            <a:off x="5606000" y="3129775"/>
            <a:ext cx="1460700" cy="29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15"/>
          <p:cNvSpPr txBox="1"/>
          <p:nvPr/>
        </p:nvSpPr>
        <p:spPr>
          <a:xfrm>
            <a:off x="4344850" y="1594600"/>
            <a:ext cx="110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input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4344850" y="2661400"/>
            <a:ext cx="110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output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4497250" y="3194800"/>
            <a:ext cx="110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output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16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2</a:t>
            </a:r>
            <a:endParaRPr/>
          </a:p>
        </p:txBody>
      </p:sp>
      <p:sp>
        <p:nvSpPr>
          <p:cNvPr id="176" name="Google Shape;176;p16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You’re going to design your own talking teddy.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It will need an input, process, and an output.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For example, if you press its paw, it will say “hello”.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a ta</a:t>
            </a:r>
            <a:r>
              <a:rPr lang="en"/>
              <a:t>lking teddy</a:t>
            </a:r>
            <a:endParaRPr/>
          </a:p>
        </p:txBody>
      </p:sp>
      <p:pic>
        <p:nvPicPr>
          <p:cNvPr id="178" name="Google Shape;178;p16"/>
          <p:cNvPicPr preferRelativeResize="0"/>
          <p:nvPr/>
        </p:nvPicPr>
        <p:blipFill rotWithShape="1">
          <a:blip r:embed="rId3">
            <a:alphaModFix/>
          </a:blip>
          <a:srcRect b="0" l="0" r="50044" t="0"/>
          <a:stretch/>
        </p:blipFill>
        <p:spPr>
          <a:xfrm>
            <a:off x="4676413" y="1170100"/>
            <a:ext cx="3454874" cy="354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0500" y="3020800"/>
            <a:ext cx="388249" cy="38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2922" y="3122400"/>
            <a:ext cx="1111125" cy="144145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6"/>
          <p:cNvSpPr/>
          <p:nvPr/>
        </p:nvSpPr>
        <p:spPr>
          <a:xfrm>
            <a:off x="7329725" y="1451425"/>
            <a:ext cx="1387800" cy="562500"/>
          </a:xfrm>
          <a:prstGeom prst="wedgeEllipseCallout">
            <a:avLst>
              <a:gd fmla="val -92488" name="adj1"/>
              <a:gd fmla="val 140298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Hello!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design should include: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Parts you would need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What else could you make it do?</a:t>
            </a:r>
            <a:endParaRPr/>
          </a:p>
        </p:txBody>
      </p:sp>
      <p:sp>
        <p:nvSpPr>
          <p:cNvPr id="187" name="Google Shape;187;p17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</a:t>
            </a:r>
            <a:endParaRPr/>
          </a:p>
        </p:txBody>
      </p:sp>
      <p:sp>
        <p:nvSpPr>
          <p:cNvPr id="188" name="Google Shape;188;p17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17"/>
          <p:cNvSpPr txBox="1"/>
          <p:nvPr>
            <p:ph idx="2" type="body"/>
          </p:nvPr>
        </p:nvSpPr>
        <p:spPr>
          <a:xfrm>
            <a:off x="4736600" y="1170100"/>
            <a:ext cx="1296000" cy="4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Inputs</a:t>
            </a:r>
            <a:endParaRPr b="1"/>
          </a:p>
        </p:txBody>
      </p:sp>
      <p:sp>
        <p:nvSpPr>
          <p:cNvPr id="190" name="Google Shape;190;p17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2</a:t>
            </a:r>
            <a:endParaRPr/>
          </a:p>
        </p:txBody>
      </p:sp>
      <p:pic>
        <p:nvPicPr>
          <p:cNvPr id="191" name="Google Shape;191;p17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002400" y="1171776"/>
            <a:ext cx="3564901" cy="365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/>
          <p:nvPr>
            <p:ph idx="2" type="body"/>
          </p:nvPr>
        </p:nvSpPr>
        <p:spPr>
          <a:xfrm>
            <a:off x="7728375" y="2322100"/>
            <a:ext cx="1296000" cy="4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Process</a:t>
            </a:r>
            <a:endParaRPr b="1"/>
          </a:p>
        </p:txBody>
      </p:sp>
      <p:sp>
        <p:nvSpPr>
          <p:cNvPr id="193" name="Google Shape;193;p17"/>
          <p:cNvSpPr txBox="1"/>
          <p:nvPr>
            <p:ph idx="2" type="body"/>
          </p:nvPr>
        </p:nvSpPr>
        <p:spPr>
          <a:xfrm>
            <a:off x="4678525" y="2322150"/>
            <a:ext cx="1296000" cy="4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Outputs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locker allows customers to collect items they have ordered online.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 customer is sent a code, which they can scan or key into the locker.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Describe what you think happens after the customer places their order. </a:t>
            </a:r>
            <a:endParaRPr/>
          </a:p>
        </p:txBody>
      </p:sp>
      <p:sp>
        <p:nvSpPr>
          <p:cNvPr id="199" name="Google Shape;199;p18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Computers in a system</a:t>
            </a:r>
            <a:endParaRPr/>
          </a:p>
        </p:txBody>
      </p:sp>
      <p:sp>
        <p:nvSpPr>
          <p:cNvPr id="200" name="Google Shape;200;p18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18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3</a:t>
            </a:r>
            <a:endParaRPr/>
          </a:p>
        </p:txBody>
      </p:sp>
      <p:pic>
        <p:nvPicPr>
          <p:cNvPr id="202" name="Google Shape;2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3600" y="1170125"/>
            <a:ext cx="3659100" cy="36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locker</a:t>
            </a:r>
            <a:endParaRPr/>
          </a:p>
        </p:txBody>
      </p:sp>
      <p:sp>
        <p:nvSpPr>
          <p:cNvPr id="208" name="Google Shape;208;p19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19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3</a:t>
            </a:r>
            <a:endParaRPr/>
          </a:p>
        </p:txBody>
      </p:sp>
      <p:pic>
        <p:nvPicPr>
          <p:cNvPr id="210" name="Google Shape;2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2600" y="2902100"/>
            <a:ext cx="1801851" cy="180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8750" y="1148675"/>
            <a:ext cx="1314650" cy="1285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7950" y="1023200"/>
            <a:ext cx="2278901" cy="1519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725" y="3080549"/>
            <a:ext cx="2832419" cy="144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70446" y="3080550"/>
            <a:ext cx="1452257" cy="144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41425" y="1075022"/>
            <a:ext cx="480784" cy="487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0901" y="1720550"/>
            <a:ext cx="630534" cy="53496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217" name="Google Shape;217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816919" y="1257207"/>
            <a:ext cx="1515483" cy="10688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8" name="Google Shape;218;p19"/>
          <p:cNvCxnSpPr>
            <a:stCxn id="216" idx="0"/>
            <a:endCxn id="215" idx="1"/>
          </p:cNvCxnSpPr>
          <p:nvPr/>
        </p:nvCxnSpPr>
        <p:spPr>
          <a:xfrm rot="-5400000">
            <a:off x="582968" y="1362050"/>
            <a:ext cx="401700" cy="315300"/>
          </a:xfrm>
          <a:prstGeom prst="curvedConnector2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19"/>
          <p:cNvCxnSpPr>
            <a:stCxn id="215" idx="3"/>
            <a:endCxn id="217" idx="1"/>
          </p:cNvCxnSpPr>
          <p:nvPr/>
        </p:nvCxnSpPr>
        <p:spPr>
          <a:xfrm>
            <a:off x="1422209" y="1318844"/>
            <a:ext cx="394800" cy="472800"/>
          </a:xfrm>
          <a:prstGeom prst="curvedConnector3">
            <a:avLst>
              <a:gd fmla="val 49989" name="adj1"/>
            </a:avLst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220" name="Google Shape;220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71598" y="3021600"/>
            <a:ext cx="1065010" cy="1562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20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Plenary</a:t>
            </a:r>
            <a:endParaRPr/>
          </a:p>
        </p:txBody>
      </p:sp>
      <p:sp>
        <p:nvSpPr>
          <p:cNvPr id="227" name="Google Shape;227;p20"/>
          <p:cNvSpPr txBox="1"/>
          <p:nvPr>
            <p:ph idx="2" type="body"/>
          </p:nvPr>
        </p:nvSpPr>
        <p:spPr>
          <a:xfrm>
            <a:off x="310900" y="4282175"/>
            <a:ext cx="85212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Can you explain to the person next to you what a </a:t>
            </a:r>
            <a:r>
              <a:rPr b="1" lang="en"/>
              <a:t>system </a:t>
            </a:r>
            <a:r>
              <a:rPr lang="en"/>
              <a:t>is?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2167100" y="733075"/>
            <a:ext cx="3121800" cy="2081100"/>
          </a:xfrm>
          <a:prstGeom prst="wedgeEllipseCallout">
            <a:avLst>
              <a:gd fmla="val -55006" name="adj1"/>
              <a:gd fmla="val 69563" name="adj2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 flipH="1">
            <a:off x="3631875" y="1017713"/>
            <a:ext cx="3658200" cy="2438700"/>
          </a:xfrm>
          <a:prstGeom prst="wedgeEllipseCallout">
            <a:avLst>
              <a:gd fmla="val -54583" name="adj1"/>
              <a:gd fmla="val 65529" name="adj2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1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310900" y="1170124"/>
            <a:ext cx="4096500" cy="3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A5"/>
              </a:buClr>
              <a:buSzPts val="1800"/>
              <a:buFont typeface="Quicksand"/>
              <a:buChar char="●"/>
            </a:pPr>
            <a:r>
              <a:rPr lang="en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I can show that systems are built using a number of parts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Char char="●"/>
            </a:pPr>
            <a:r>
              <a:rPr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 can </a:t>
            </a:r>
            <a:r>
              <a:rPr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describe </a:t>
            </a:r>
            <a:r>
              <a:rPr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 input, process, and output of a digital system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B5BA5"/>
              </a:buClr>
              <a:buSzPts val="1800"/>
              <a:buFont typeface="Quicksand"/>
              <a:buChar char="●"/>
            </a:pPr>
            <a:r>
              <a:rPr lang="en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I can explain that computer systems communicate with other devices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310900" y="319600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How confident are you? (1–3)</a:t>
            </a:r>
            <a:endParaRPr b="1" sz="24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6185600" y="1292600"/>
            <a:ext cx="19041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3 – Very confident</a:t>
            </a:r>
            <a:endParaRPr b="1" sz="15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6185600" y="3414350"/>
            <a:ext cx="19815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1 </a:t>
            </a:r>
            <a:r>
              <a:rPr b="1" lang="en" sz="1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–</a:t>
            </a:r>
            <a:r>
              <a:rPr b="1" lang="en" sz="15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Not confident</a:t>
            </a:r>
            <a:endParaRPr b="1" sz="15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40" name="Google Shape;2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8224" y="1131670"/>
            <a:ext cx="485775" cy="79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981799" y="2192558"/>
            <a:ext cx="485775" cy="79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032624" y="3253433"/>
            <a:ext cx="485775" cy="79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6185600" y="2347550"/>
            <a:ext cx="14481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2 </a:t>
            </a:r>
            <a:r>
              <a:rPr b="1" lang="en" sz="1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–</a:t>
            </a:r>
            <a:r>
              <a:rPr b="1" lang="en" sz="15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Unsure </a:t>
            </a:r>
            <a:endParaRPr b="1" sz="15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 this lesson, you…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Recognised</a:t>
            </a:r>
            <a:r>
              <a:rPr lang="en"/>
              <a:t> that systems are </a:t>
            </a:r>
            <a:r>
              <a:rPr lang="en"/>
              <a:t>built</a:t>
            </a:r>
            <a:r>
              <a:rPr lang="en"/>
              <a:t> up of lots of parts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xplored how the parts within different systems work together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2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lesson</a:t>
            </a:r>
            <a:endParaRPr/>
          </a:p>
        </p:txBody>
      </p:sp>
      <p:sp>
        <p:nvSpPr>
          <p:cNvPr id="250" name="Google Shape;250;p22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22"/>
          <p:cNvSpPr txBox="1"/>
          <p:nvPr>
            <p:ph idx="2" type="body"/>
          </p:nvPr>
        </p:nvSpPr>
        <p:spPr>
          <a:xfrm>
            <a:off x="4736600" y="1170100"/>
            <a:ext cx="42708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Next lesson, you will…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xplore how devices and processes are connected in systems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</a:t>
            </a:r>
            <a:r>
              <a:rPr lang="en"/>
              <a:t>onsider the benefits of computer systems</a:t>
            </a:r>
            <a:endParaRPr/>
          </a:p>
        </p:txBody>
      </p:sp>
      <p:sp>
        <p:nvSpPr>
          <p:cNvPr id="252" name="Google Shape;252;p22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CCE Slides">
  <a:themeElements>
    <a:clrScheme name="Simple Light">
      <a:dk1>
        <a:srgbClr val="5B5BA5"/>
      </a:dk1>
      <a:lt1>
        <a:srgbClr val="FFFFFF"/>
      </a:lt1>
      <a:dk2>
        <a:srgbClr val="E9E9F3"/>
      </a:dk2>
      <a:lt2>
        <a:srgbClr val="F2F6FC"/>
      </a:lt2>
      <a:accent1>
        <a:srgbClr val="E9F7FC"/>
      </a:accent1>
      <a:accent2>
        <a:srgbClr val="FFEFDA"/>
      </a:accent2>
      <a:accent3>
        <a:srgbClr val="ECF8F5"/>
      </a:accent3>
      <a:accent4>
        <a:srgbClr val="FEF2F6"/>
      </a:accent4>
      <a:accent5>
        <a:srgbClr val="E6E6EA"/>
      </a:accent5>
      <a:accent6>
        <a:srgbClr val="F0F6ED"/>
      </a:accent6>
      <a:hlink>
        <a:srgbClr val="3197A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