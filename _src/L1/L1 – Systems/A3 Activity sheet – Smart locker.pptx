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7560000" cx="10692000"/>
  <p:notesSz cx="7560000" cy="10692000"/>
  <p:embeddedFontLst>
    <p:embeddedFont>
      <p:font typeface="Quicksand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650AED-3BF7-4050-AC4E-5A15431BE768}">
  <a:tblStyle styleId="{9E650AED-3BF7-4050-AC4E-5A15431BE7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Quicksan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Quicksan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004515" y="685800"/>
            <a:ext cx="4849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Late updated 31-01-22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4478" y="1094388"/>
            <a:ext cx="9963000" cy="30168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2pPr>
            <a:lvl3pPr lvl="2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3pPr>
            <a:lvl4pPr lvl="3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4pPr>
            <a:lvl5pPr lvl="4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5pPr>
            <a:lvl6pPr lvl="5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6pPr>
            <a:lvl7pPr lvl="6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7pPr>
            <a:lvl8pPr lvl="7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8pPr>
            <a:lvl9pPr lvl="8" algn="ctr">
              <a:spcBef>
                <a:spcPts val="0"/>
              </a:spcBef>
              <a:spcAft>
                <a:spcPts val="0"/>
              </a:spcAft>
              <a:buSzPts val="6600"/>
              <a:buNone/>
              <a:defRPr sz="6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4468" y="4165643"/>
            <a:ext cx="9963000" cy="1164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4468" y="3161354"/>
            <a:ext cx="9963000" cy="1237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4468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650483" y="1693927"/>
            <a:ext cx="4677000" cy="50214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4468" y="816630"/>
            <a:ext cx="3283500" cy="1110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4468" y="2042457"/>
            <a:ext cx="3283500" cy="46731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23850" lvl="1" marL="9144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>
              <a:spcBef>
                <a:spcPts val="200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>
              <a:spcBef>
                <a:spcPts val="200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>
              <a:spcBef>
                <a:spcPts val="200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>
              <a:spcBef>
                <a:spcPts val="2000"/>
              </a:spcBef>
              <a:spcAft>
                <a:spcPts val="200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3245" y="661638"/>
            <a:ext cx="7445700" cy="60126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346000" y="-184"/>
            <a:ext cx="5346000" cy="756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0447" y="1812541"/>
            <a:ext cx="4730100" cy="21786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0447" y="4120005"/>
            <a:ext cx="4730100" cy="18153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775715" y="1064257"/>
            <a:ext cx="4486500" cy="54312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374650" lvl="0" marL="45720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4468" y="6218168"/>
            <a:ext cx="7014300" cy="8895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4468" y="1625801"/>
            <a:ext cx="9963000" cy="2886000"/>
          </a:xfrm>
          <a:prstGeom prst="rect">
            <a:avLst/>
          </a:prstGeom>
        </p:spPr>
        <p:txBody>
          <a:bodyPr anchorCtr="0" anchor="b" bIns="116050" lIns="116050" spcFirstLastPara="1" rIns="116050" wrap="square" tIns="1160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200"/>
              <a:buNone/>
              <a:defRPr sz="15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4468" y="4633192"/>
            <a:ext cx="9963000" cy="1911900"/>
          </a:xfrm>
          <a:prstGeom prst="rect">
            <a:avLst/>
          </a:prstGeom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indent="-342900" lvl="1" marL="9144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ctr">
              <a:spcBef>
                <a:spcPts val="20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ctr">
              <a:spcBef>
                <a:spcPts val="20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ctr">
              <a:spcBef>
                <a:spcPts val="20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ctr">
              <a:spcBef>
                <a:spcPts val="2000"/>
              </a:spcBef>
              <a:spcAft>
                <a:spcPts val="20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4468" y="654105"/>
            <a:ext cx="9963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4468" y="1693927"/>
            <a:ext cx="9963000" cy="5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6050" lIns="116050" spcFirstLastPara="1" rIns="116050" wrap="square" tIns="116050">
            <a:noAutofit/>
          </a:bodyPr>
          <a:lstStyle>
            <a:lvl1pPr indent="-3746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indent="-342900" lvl="1" marL="914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indent="-342900" lvl="2" marL="1371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indent="-342900" lvl="3" marL="18288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lnSpc>
                <a:spcPct val="115000"/>
              </a:lnSpc>
              <a:spcBef>
                <a:spcPts val="2000"/>
              </a:spcBef>
              <a:spcAft>
                <a:spcPts val="200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906772" y="6854072"/>
            <a:ext cx="6417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050" lIns="116050" spcFirstLastPara="1" rIns="116050" wrap="square" tIns="11605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://ncce.io/tcc" TargetMode="External"/><Relationship Id="rId5" Type="http://schemas.openxmlformats.org/officeDocument/2006/relationships/hyperlink" Target="http://ncce.io/og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{9E650AED-3BF7-4050-AC4E-5A15431BE768}</a:tableStyleId>
              </a:tblPr>
              <a:tblGrid>
                <a:gridCol w="4895850"/>
                <a:gridCol w="5048250"/>
              </a:tblGrid>
              <a:tr h="546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Year 5 – Systems and searching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Lesson 1 – Systems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66666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Learner activity sheet</a:t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  <a:p>
                      <a:pPr indent="0" lvl="0" marL="0" marR="9525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666666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850900"/>
            <a:ext cx="1714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680225" y="1612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1" lang="en-GB" sz="24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Smart locker</a:t>
            </a:r>
            <a:endParaRPr sz="110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80225" y="6725675"/>
            <a:ext cx="9568800" cy="6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Resources are updated regularly — the latest version is available at: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ncce.io/tcc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6666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This resource is licensed under the Open Government Licence, version 3. For more information on this licence, see </a:t>
            </a:r>
            <a:r>
              <a:rPr lang="en-GB" sz="900" u="sng">
                <a:solidFill>
                  <a:srgbClr val="1155CC"/>
                </a:solid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ncce.io/ogl</a:t>
            </a:r>
            <a:r>
              <a:rPr lang="en-GB" sz="900">
                <a:solidFill>
                  <a:srgbClr val="666666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334112" y="2259500"/>
            <a:ext cx="22020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does the order get to the warehouse?</a:t>
            </a:r>
            <a:endParaRPr sz="1200"/>
          </a:p>
        </p:txBody>
      </p:sp>
      <p:sp>
        <p:nvSpPr>
          <p:cNvPr id="59" name="Google Shape;59;p13"/>
          <p:cNvSpPr/>
          <p:nvPr/>
        </p:nvSpPr>
        <p:spPr>
          <a:xfrm>
            <a:off x="3606666" y="2259500"/>
            <a:ext cx="22020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does the order get picked from the warehouse shelves?</a:t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5879221" y="2259500"/>
            <a:ext cx="22020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is the order protected from damage?</a:t>
            </a:r>
            <a:endParaRPr sz="12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85850" y="2259500"/>
            <a:ext cx="8772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Order placed</a:t>
            </a:r>
            <a:endParaRPr sz="1200">
              <a:solidFill>
                <a:srgbClr val="5B5BA5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718425" y="4556086"/>
            <a:ext cx="22020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does the order get from the warehouse to the right smart locker?</a:t>
            </a:r>
            <a:endParaRPr/>
          </a:p>
        </p:txBody>
      </p:sp>
      <p:sp>
        <p:nvSpPr>
          <p:cNvPr id="63" name="Google Shape;63;p13"/>
          <p:cNvSpPr/>
          <p:nvPr/>
        </p:nvSpPr>
        <p:spPr>
          <a:xfrm>
            <a:off x="3010173" y="4556093"/>
            <a:ext cx="22020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does the customer know their order is ready for collection?</a:t>
            </a: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5345996" y="4556093"/>
            <a:ext cx="22020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does the customer get access to only their parcel?</a:t>
            </a:r>
            <a:endParaRPr sz="12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8181799" y="2259500"/>
            <a:ext cx="2202000" cy="2086500"/>
          </a:xfrm>
          <a:prstGeom prst="homePlate">
            <a:avLst>
              <a:gd fmla="val 18618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will workers know where the order is to be sent?</a:t>
            </a:r>
            <a:endParaRPr sz="12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7681825" y="4556093"/>
            <a:ext cx="2202000" cy="2086500"/>
          </a:xfrm>
          <a:prstGeom prst="homePlate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16050" lIns="116050" spcFirstLastPara="1" rIns="116050" wrap="square" tIns="116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5B5BA5"/>
                </a:solidFill>
                <a:latin typeface="Quicksand"/>
                <a:ea typeface="Quicksand"/>
                <a:cs typeface="Quicksand"/>
                <a:sym typeface="Quicksand"/>
              </a:rPr>
              <a:t>How does the company know the parcel has been collected?</a:t>
            </a:r>
            <a:endParaRPr sz="1200">
              <a:solidFill>
                <a:srgbClr val="5B5BA5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